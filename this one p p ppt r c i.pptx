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jpg"/><Relationship Id="rId9" Type="http://schemas.openxmlformats.org/officeDocument/2006/relationships/image" Target="../media/image3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10183" y="2718816"/>
            <a:ext cx="2193290" cy="344805"/>
          </a:xfrm>
          <a:custGeom>
            <a:avLst/>
            <a:gdLst/>
            <a:ahLst/>
            <a:cxnLst/>
            <a:rect l="l" t="t" r="r" b="b"/>
            <a:pathLst>
              <a:path w="2193290" h="344805">
                <a:moveTo>
                  <a:pt x="0" y="344424"/>
                </a:moveTo>
                <a:lnTo>
                  <a:pt x="2193035" y="344424"/>
                </a:lnTo>
                <a:lnTo>
                  <a:pt x="2193035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10183" y="3063240"/>
            <a:ext cx="2193290" cy="1096010"/>
          </a:xfrm>
          <a:custGeom>
            <a:avLst/>
            <a:gdLst/>
            <a:ahLst/>
            <a:cxnLst/>
            <a:rect l="l" t="t" r="r" b="b"/>
            <a:pathLst>
              <a:path w="2193290" h="1096010">
                <a:moveTo>
                  <a:pt x="2193035" y="1095756"/>
                </a:moveTo>
                <a:lnTo>
                  <a:pt x="0" y="1095756"/>
                </a:lnTo>
                <a:lnTo>
                  <a:pt x="0" y="0"/>
                </a:lnTo>
                <a:lnTo>
                  <a:pt x="2193035" y="0"/>
                </a:lnTo>
                <a:lnTo>
                  <a:pt x="2193035" y="1095756"/>
                </a:lnTo>
                <a:close/>
              </a:path>
            </a:pathLst>
          </a:custGeom>
          <a:solidFill>
            <a:srgbClr val="DAE2F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4245864"/>
            <a:ext cx="2193035" cy="146303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710183" y="5801867"/>
            <a:ext cx="2193290" cy="365760"/>
          </a:xfrm>
          <a:custGeom>
            <a:avLst/>
            <a:gdLst/>
            <a:ahLst/>
            <a:cxnLst/>
            <a:rect l="l" t="t" r="r" b="b"/>
            <a:pathLst>
              <a:path w="2193290" h="365760">
                <a:moveTo>
                  <a:pt x="2193035" y="365760"/>
                </a:moveTo>
                <a:lnTo>
                  <a:pt x="0" y="365760"/>
                </a:lnTo>
                <a:lnTo>
                  <a:pt x="0" y="0"/>
                </a:lnTo>
                <a:lnTo>
                  <a:pt x="2193035" y="0"/>
                </a:lnTo>
                <a:lnTo>
                  <a:pt x="2193035" y="365760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710183" y="6167628"/>
            <a:ext cx="2193290" cy="1973580"/>
          </a:xfrm>
          <a:custGeom>
            <a:avLst/>
            <a:gdLst/>
            <a:ahLst/>
            <a:cxnLst/>
            <a:rect l="l" t="t" r="r" b="b"/>
            <a:pathLst>
              <a:path w="2193290" h="1973579">
                <a:moveTo>
                  <a:pt x="2193035" y="1973579"/>
                </a:moveTo>
                <a:lnTo>
                  <a:pt x="0" y="1973579"/>
                </a:lnTo>
                <a:lnTo>
                  <a:pt x="0" y="0"/>
                </a:lnTo>
                <a:lnTo>
                  <a:pt x="2193035" y="0"/>
                </a:lnTo>
                <a:lnTo>
                  <a:pt x="2193035" y="1973579"/>
                </a:lnTo>
                <a:close/>
              </a:path>
            </a:pathLst>
          </a:custGeom>
          <a:solidFill>
            <a:srgbClr val="DAE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226308" y="2718816"/>
            <a:ext cx="3837940" cy="312420"/>
          </a:xfrm>
          <a:custGeom>
            <a:avLst/>
            <a:gdLst/>
            <a:ahLst/>
            <a:cxnLst/>
            <a:rect l="l" t="t" r="r" b="b"/>
            <a:pathLst>
              <a:path w="3837940" h="312419">
                <a:moveTo>
                  <a:pt x="3837431" y="312419"/>
                </a:moveTo>
                <a:lnTo>
                  <a:pt x="0" y="312419"/>
                </a:lnTo>
                <a:lnTo>
                  <a:pt x="0" y="0"/>
                </a:lnTo>
                <a:lnTo>
                  <a:pt x="3837431" y="0"/>
                </a:lnTo>
                <a:lnTo>
                  <a:pt x="3837431" y="312419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226308" y="3031235"/>
            <a:ext cx="3837940" cy="2559050"/>
          </a:xfrm>
          <a:custGeom>
            <a:avLst/>
            <a:gdLst/>
            <a:ahLst/>
            <a:cxnLst/>
            <a:rect l="l" t="t" r="r" b="b"/>
            <a:pathLst>
              <a:path w="3837940" h="2559050">
                <a:moveTo>
                  <a:pt x="0" y="0"/>
                </a:moveTo>
                <a:lnTo>
                  <a:pt x="3837431" y="0"/>
                </a:lnTo>
                <a:lnTo>
                  <a:pt x="3837431" y="2558796"/>
                </a:lnTo>
                <a:lnTo>
                  <a:pt x="0" y="2558796"/>
                </a:lnTo>
                <a:lnTo>
                  <a:pt x="0" y="0"/>
                </a:lnTo>
                <a:close/>
              </a:path>
            </a:pathLst>
          </a:custGeom>
          <a:ln w="9143">
            <a:solidFill>
              <a:srgbClr val="8EAAD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20211" y="3034283"/>
            <a:ext cx="3848100" cy="2482596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3308604" y="5736335"/>
            <a:ext cx="3634740" cy="365760"/>
          </a:xfrm>
          <a:custGeom>
            <a:avLst/>
            <a:gdLst/>
            <a:ahLst/>
            <a:cxnLst/>
            <a:rect l="l" t="t" r="r" b="b"/>
            <a:pathLst>
              <a:path w="3634740" h="365760">
                <a:moveTo>
                  <a:pt x="3634740" y="365760"/>
                </a:moveTo>
                <a:lnTo>
                  <a:pt x="0" y="365760"/>
                </a:lnTo>
                <a:lnTo>
                  <a:pt x="0" y="0"/>
                </a:lnTo>
                <a:lnTo>
                  <a:pt x="3634740" y="0"/>
                </a:lnTo>
                <a:lnTo>
                  <a:pt x="3634740" y="365760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308604" y="6105144"/>
            <a:ext cx="3633470" cy="2037714"/>
          </a:xfrm>
          <a:custGeom>
            <a:avLst/>
            <a:gdLst/>
            <a:ahLst/>
            <a:cxnLst/>
            <a:rect l="l" t="t" r="r" b="b"/>
            <a:pathLst>
              <a:path w="3633470" h="2037715">
                <a:moveTo>
                  <a:pt x="0" y="0"/>
                </a:moveTo>
                <a:lnTo>
                  <a:pt x="3633216" y="0"/>
                </a:lnTo>
                <a:lnTo>
                  <a:pt x="3633216" y="2037587"/>
                </a:lnTo>
                <a:lnTo>
                  <a:pt x="0" y="2037587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B3C6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710183" y="8257032"/>
            <a:ext cx="2741930" cy="422275"/>
          </a:xfrm>
          <a:custGeom>
            <a:avLst/>
            <a:gdLst/>
            <a:ahLst/>
            <a:cxnLst/>
            <a:rect l="l" t="t" r="r" b="b"/>
            <a:pathLst>
              <a:path w="2741929" h="422275">
                <a:moveTo>
                  <a:pt x="2741675" y="422148"/>
                </a:moveTo>
                <a:lnTo>
                  <a:pt x="0" y="422148"/>
                </a:lnTo>
                <a:lnTo>
                  <a:pt x="0" y="0"/>
                </a:lnTo>
                <a:lnTo>
                  <a:pt x="2741675" y="0"/>
                </a:lnTo>
                <a:lnTo>
                  <a:pt x="2741675" y="422148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499103" y="8260080"/>
            <a:ext cx="2740660" cy="364490"/>
          </a:xfrm>
          <a:custGeom>
            <a:avLst/>
            <a:gdLst/>
            <a:ahLst/>
            <a:cxnLst/>
            <a:rect l="l" t="t" r="r" b="b"/>
            <a:pathLst>
              <a:path w="2740660" h="364490">
                <a:moveTo>
                  <a:pt x="2740151" y="364235"/>
                </a:moveTo>
                <a:lnTo>
                  <a:pt x="0" y="364235"/>
                </a:lnTo>
                <a:lnTo>
                  <a:pt x="0" y="0"/>
                </a:lnTo>
                <a:lnTo>
                  <a:pt x="2740151" y="0"/>
                </a:lnTo>
                <a:lnTo>
                  <a:pt x="2740151" y="364235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6286500" y="8257032"/>
            <a:ext cx="822960" cy="187960"/>
          </a:xfrm>
          <a:custGeom>
            <a:avLst/>
            <a:gdLst/>
            <a:ahLst/>
            <a:cxnLst/>
            <a:rect l="l" t="t" r="r" b="b"/>
            <a:pathLst>
              <a:path w="822959" h="187959">
                <a:moveTo>
                  <a:pt x="822960" y="187451"/>
                </a:moveTo>
                <a:lnTo>
                  <a:pt x="0" y="187451"/>
                </a:lnTo>
                <a:lnTo>
                  <a:pt x="0" y="0"/>
                </a:lnTo>
                <a:lnTo>
                  <a:pt x="822960" y="0"/>
                </a:lnTo>
                <a:lnTo>
                  <a:pt x="822960" y="187451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bg 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40423" y="466343"/>
            <a:ext cx="696468" cy="7437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hyperlink" Target="http://www.analog.com/media/en/tec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784866" y="9340384"/>
            <a:ext cx="35560" cy="47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50"/>
              </a:lnSpc>
            </a:pPr>
            <a:r>
              <a:rPr dirty="0" sz="350" spc="-10">
                <a:latin typeface="Calibri"/>
                <a:cs typeface="Calibri"/>
              </a:rPr>
              <a:t>-</a:t>
            </a:r>
            <a:r>
              <a:rPr dirty="0" sz="350" spc="-50">
                <a:latin typeface="Calibri"/>
                <a:cs typeface="Calibri"/>
              </a:rPr>
              <a:t>S</a:t>
            </a:r>
            <a:endParaRPr sz="35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0944" y="9311640"/>
            <a:ext cx="99059" cy="106679"/>
          </a:xfrm>
          <a:prstGeom prst="rect">
            <a:avLst/>
          </a:prstGeom>
        </p:spPr>
      </p:pic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89788" y="170687"/>
          <a:ext cx="6672580" cy="97199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2060"/>
                <a:gridCol w="119380"/>
                <a:gridCol w="3837304"/>
                <a:gridCol w="117475"/>
              </a:tblGrid>
              <a:tr h="23304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8EAADB"/>
                      </a:solidFill>
                      <a:prstDash val="solid"/>
                    </a:lnB>
                    <a:solidFill>
                      <a:srgbClr val="001F6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30070">
                <a:tc gridSpan="4">
                  <a:txBody>
                    <a:bodyPr/>
                    <a:lstStyle/>
                    <a:p>
                      <a:pPr algn="ctr" marL="801370" marR="799465" indent="-635">
                        <a:lnSpc>
                          <a:spcPct val="101499"/>
                        </a:lnSpc>
                        <a:spcBef>
                          <a:spcPts val="290"/>
                        </a:spcBef>
                      </a:pPr>
                      <a:r>
                        <a:rPr dirty="0" sz="2000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IMPLEMENTATION</a:t>
                      </a:r>
                      <a:r>
                        <a:rPr dirty="0" sz="2000" spc="-40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2000" spc="-125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VERILOG </a:t>
                      </a:r>
                      <a:r>
                        <a:rPr dirty="0" sz="2000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PROGRAMMING</a:t>
                      </a:r>
                      <a:r>
                        <a:rPr dirty="0" sz="2000" spc="114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2000" spc="-35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AD9910</a:t>
                      </a:r>
                      <a:r>
                        <a:rPr dirty="0" sz="2000" spc="90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HARDWARE </a:t>
                      </a:r>
                      <a:r>
                        <a:rPr dirty="0" sz="2000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2000" spc="-155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AUTO</a:t>
                      </a:r>
                      <a:r>
                        <a:rPr dirty="0" sz="2000" spc="50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dirty="0" sz="2000" spc="75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GENERATION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dirty="0" sz="1200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Adrija</a:t>
                      </a:r>
                      <a:r>
                        <a:rPr dirty="0" sz="1200" spc="25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Ghosh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710" marR="2898775">
                        <a:lnSpc>
                          <a:spcPts val="1220"/>
                        </a:lnSpc>
                        <a:spcBef>
                          <a:spcPts val="45"/>
                        </a:spcBef>
                      </a:pPr>
                      <a:r>
                        <a:rPr dirty="0" sz="100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Defence</a:t>
                      </a:r>
                      <a:r>
                        <a:rPr dirty="0" sz="1000" spc="5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Institute</a:t>
                      </a:r>
                      <a:r>
                        <a:rPr dirty="0" sz="1000" spc="1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00" spc="5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Advanced</a:t>
                      </a:r>
                      <a:r>
                        <a:rPr dirty="0" sz="1000" spc="4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Technology</a:t>
                      </a:r>
                      <a:r>
                        <a:rPr dirty="0" sz="1000" spc="25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(Electronics</a:t>
                      </a:r>
                      <a:r>
                        <a:rPr dirty="0" sz="1000" spc="1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Dept.,</a:t>
                      </a:r>
                      <a:r>
                        <a:rPr dirty="0" sz="1000" spc="25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R&amp;C) </a:t>
                      </a:r>
                      <a:r>
                        <a:rPr dirty="0" sz="100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Guides:</a:t>
                      </a:r>
                      <a:r>
                        <a:rPr dirty="0" sz="1000" spc="26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Dr.</a:t>
                      </a:r>
                      <a:r>
                        <a:rPr dirty="0" sz="1000" spc="25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M.</a:t>
                      </a:r>
                      <a:r>
                        <a:rPr dirty="0" sz="1000" spc="1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Veerendra</a:t>
                      </a:r>
                      <a:r>
                        <a:rPr dirty="0" sz="1000" spc="2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(Sc.</a:t>
                      </a:r>
                      <a:r>
                        <a:rPr dirty="0" sz="1000" spc="3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E,</a:t>
                      </a:r>
                      <a:r>
                        <a:rPr dirty="0" sz="1000" spc="1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RCI,</a:t>
                      </a:r>
                      <a:r>
                        <a:rPr dirty="0" sz="1000" spc="1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DRDO)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543560">
                        <a:lnSpc>
                          <a:spcPts val="1170"/>
                        </a:lnSpc>
                      </a:pPr>
                      <a:r>
                        <a:rPr dirty="0" sz="100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Dr.</a:t>
                      </a:r>
                      <a:r>
                        <a:rPr dirty="0" sz="1000" spc="3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Kailas</a:t>
                      </a:r>
                      <a:r>
                        <a:rPr dirty="0" sz="1000" spc="1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Sawant</a:t>
                      </a:r>
                      <a:r>
                        <a:rPr dirty="0" sz="1000" spc="2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solidFill>
                            <a:srgbClr val="001F60"/>
                          </a:solidFill>
                          <a:latin typeface="Times New Roman"/>
                          <a:cs typeface="Times New Roman"/>
                        </a:rPr>
                        <a:t>(DIAT)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9525">
                      <a:solidFill>
                        <a:srgbClr val="8EAADB"/>
                      </a:solidFill>
                      <a:prstDash val="solid"/>
                    </a:lnL>
                    <a:lnR w="9525">
                      <a:solidFill>
                        <a:srgbClr val="8EAADB"/>
                      </a:solidFill>
                      <a:prstDash val="solid"/>
                    </a:lnR>
                    <a:lnT w="9525">
                      <a:solidFill>
                        <a:srgbClr val="8EAADB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5920"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600" spc="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3815">
                    <a:lnL w="9525">
                      <a:solidFill>
                        <a:srgbClr val="8EAADB"/>
                      </a:solidFill>
                      <a:prstDash val="solid"/>
                    </a:lnL>
                    <a:lnR w="9525">
                      <a:solidFill>
                        <a:srgbClr val="8EAADB"/>
                      </a:solidFill>
                      <a:prstDash val="solid"/>
                    </a:lnR>
                    <a:lnB w="9525">
                      <a:solidFill>
                        <a:srgbClr val="8EAADB"/>
                      </a:solidFill>
                      <a:prstDash val="solid"/>
                    </a:lnB>
                    <a:solidFill>
                      <a:srgbClr val="001F6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29585">
                <a:tc rowSpan="2">
                  <a:txBody>
                    <a:bodyPr/>
                    <a:lstStyle/>
                    <a:p>
                      <a:pPr algn="ctr" marR="80645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INTRODUCTION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64465" marR="212725">
                        <a:lnSpc>
                          <a:spcPct val="101499"/>
                        </a:lnSpc>
                        <a:spcBef>
                          <a:spcPts val="1185"/>
                        </a:spcBef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5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aim</a:t>
                      </a: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5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this project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050" spc="2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0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automate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dirty="0" sz="10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generation</a:t>
                      </a:r>
                      <a:r>
                        <a:rPr dirty="0" sz="10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5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Verilog</a:t>
                      </a:r>
                      <a:r>
                        <a:rPr dirty="0" sz="105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dirty="0" sz="105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AD9910</a:t>
                      </a:r>
                      <a:r>
                        <a:rPr dirty="0" sz="105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0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Simulink,</a:t>
                      </a:r>
                      <a:r>
                        <a:rPr dirty="0" sz="10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dirty="0" sz="105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Simulink</a:t>
                      </a:r>
                      <a:r>
                        <a:rPr dirty="0" sz="10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dirty="0" sz="105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sz="105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05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utilized</a:t>
                      </a:r>
                      <a:r>
                        <a:rPr dirty="0" sz="105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generate</a:t>
                      </a:r>
                      <a:r>
                        <a:rPr dirty="0" sz="105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radar</a:t>
                      </a:r>
                      <a:r>
                        <a:rPr dirty="0" sz="105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waveforms</a:t>
                      </a:r>
                      <a:r>
                        <a:rPr dirty="0" sz="105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dirty="0" sz="105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05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real-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life</a:t>
                      </a:r>
                      <a:r>
                        <a:rPr dirty="0" sz="105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radar</a:t>
                      </a:r>
                      <a:r>
                        <a:rPr dirty="0" sz="105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applications.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R="81280">
                        <a:lnSpc>
                          <a:spcPct val="100000"/>
                        </a:lnSpc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dirty="0" sz="1300" spc="6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STATEMENT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73355" marR="441325">
                        <a:lnSpc>
                          <a:spcPct val="101499"/>
                        </a:lnSpc>
                        <a:spcBef>
                          <a:spcPts val="1410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auto-generate</a:t>
                      </a:r>
                      <a:r>
                        <a:rPr dirty="0" sz="12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deploy Verilog</a:t>
                      </a:r>
                      <a:r>
                        <a:rPr dirty="0" sz="12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dirty="0" sz="12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AD9910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dirty="0" sz="12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2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2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realization</a:t>
                      </a:r>
                      <a:r>
                        <a:rPr dirty="0" sz="12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2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complete</a:t>
                      </a:r>
                      <a:r>
                        <a:rPr dirty="0" sz="120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Hardware-in-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the-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Loop</a:t>
                      </a:r>
                      <a:r>
                        <a:rPr dirty="0" sz="12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(HIL)</a:t>
                      </a:r>
                      <a:r>
                        <a:rPr dirty="0" sz="12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architecture.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831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OBJECTIVES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45440" marR="326390" indent="-173990">
                        <a:lnSpc>
                          <a:spcPct val="101899"/>
                        </a:lnSpc>
                        <a:spcBef>
                          <a:spcPts val="1310"/>
                        </a:spcBef>
                        <a:buFont typeface="Wingdings"/>
                        <a:buChar char=""/>
                        <a:tabLst>
                          <a:tab pos="345440" algn="l"/>
                        </a:tabLst>
                      </a:pPr>
                      <a:r>
                        <a:rPr dirty="0" sz="800">
                          <a:latin typeface="Times New Roman"/>
                          <a:cs typeface="Times New Roman"/>
                        </a:rPr>
                        <a:t>To design</a:t>
                      </a:r>
                      <a:r>
                        <a:rPr dirty="0" sz="8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8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integrate</a:t>
                      </a:r>
                      <a:r>
                        <a:rPr dirty="0" sz="8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HDL-</a:t>
                      </a:r>
                      <a:r>
                        <a:rPr dirty="0" sz="800" spc="-10">
                          <a:latin typeface="Times New Roman"/>
                          <a:cs typeface="Times New Roman"/>
                        </a:rPr>
                        <a:t>compatible</a:t>
                      </a:r>
                      <a:r>
                        <a:rPr dirty="0" sz="8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Simulink</a:t>
                      </a:r>
                      <a:r>
                        <a:rPr dirty="0" sz="8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dirty="0" sz="8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8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polyphase</a:t>
                      </a:r>
                      <a:r>
                        <a:rPr dirty="0" sz="8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(P1–P4)</a:t>
                      </a:r>
                      <a:r>
                        <a:rPr dirty="0" sz="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2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8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LFM</a:t>
                      </a:r>
                      <a:r>
                        <a:rPr dirty="0" sz="8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waveform </a:t>
                      </a:r>
                      <a:r>
                        <a:rPr dirty="0" sz="800" spc="-10">
                          <a:latin typeface="Times New Roman"/>
                          <a:cs typeface="Times New Roman"/>
                        </a:rPr>
                        <a:t>generation.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45440" marR="271145" indent="-173990">
                        <a:lnSpc>
                          <a:spcPct val="101299"/>
                        </a:lnSpc>
                        <a:buFont typeface="Wingdings"/>
                        <a:buChar char=""/>
                        <a:tabLst>
                          <a:tab pos="345440" algn="l"/>
                        </a:tabLst>
                      </a:pPr>
                      <a:r>
                        <a:rPr dirty="0" sz="8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8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auto-generate</a:t>
                      </a:r>
                      <a:r>
                        <a:rPr dirty="0" sz="8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Verilog</a:t>
                      </a:r>
                      <a:r>
                        <a:rPr dirty="0" sz="8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dirty="0" sz="8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8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10">
                          <a:latin typeface="Times New Roman"/>
                          <a:cs typeface="Times New Roman"/>
                        </a:rPr>
                        <a:t>Simulink</a:t>
                      </a:r>
                      <a:r>
                        <a:rPr dirty="0" sz="8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8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configuring</a:t>
                      </a:r>
                      <a:r>
                        <a:rPr dirty="0" sz="8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8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AD9910</a:t>
                      </a:r>
                      <a:r>
                        <a:rPr dirty="0" sz="8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DDS</a:t>
                      </a:r>
                      <a:r>
                        <a:rPr dirty="0" sz="8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10">
                          <a:latin typeface="Times New Roman"/>
                          <a:cs typeface="Times New Roman"/>
                        </a:rPr>
                        <a:t>hardware.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45440" indent="-173355">
                        <a:lnSpc>
                          <a:spcPct val="100000"/>
                        </a:lnSpc>
                        <a:spcBef>
                          <a:spcPts val="15"/>
                        </a:spcBef>
                        <a:buFont typeface="Wingdings"/>
                        <a:buChar char=""/>
                        <a:tabLst>
                          <a:tab pos="345440" algn="l"/>
                        </a:tabLst>
                      </a:pPr>
                      <a:r>
                        <a:rPr dirty="0" sz="800">
                          <a:latin typeface="Times New Roman"/>
                          <a:cs typeface="Times New Roman"/>
                        </a:rPr>
                        <a:t>To establish</a:t>
                      </a:r>
                      <a:r>
                        <a:rPr dirty="0" sz="8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an HIL</a:t>
                      </a:r>
                      <a:r>
                        <a:rPr dirty="0" sz="8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setup</a:t>
                      </a:r>
                      <a:r>
                        <a:rPr dirty="0" sz="8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8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interfacing</a:t>
                      </a:r>
                      <a:r>
                        <a:rPr dirty="0" sz="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25">
                          <a:latin typeface="Times New Roman"/>
                          <a:cs typeface="Times New Roman"/>
                        </a:rPr>
                        <a:t>the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45440" marR="267335">
                        <a:lnSpc>
                          <a:spcPct val="101299"/>
                        </a:lnSpc>
                        <a:spcBef>
                          <a:spcPts val="10"/>
                        </a:spcBef>
                      </a:pPr>
                      <a:r>
                        <a:rPr dirty="0" sz="800">
                          <a:latin typeface="Times New Roman"/>
                          <a:cs typeface="Times New Roman"/>
                        </a:rPr>
                        <a:t>FPGA/DSP</a:t>
                      </a:r>
                      <a:r>
                        <a:rPr dirty="0" sz="8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board</a:t>
                      </a:r>
                      <a:r>
                        <a:rPr dirty="0" sz="8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8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8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AD9910</a:t>
                      </a:r>
                      <a:r>
                        <a:rPr dirty="0" sz="8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DDS</a:t>
                      </a:r>
                      <a:r>
                        <a:rPr dirty="0" sz="8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2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8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ADC</a:t>
                      </a:r>
                      <a:r>
                        <a:rPr dirty="0" sz="8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dirty="0" sz="8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20">
                          <a:latin typeface="Times New Roman"/>
                          <a:cs typeface="Times New Roman"/>
                        </a:rPr>
                        <a:t>SPI.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45440" marR="331470" indent="-173990">
                        <a:lnSpc>
                          <a:spcPct val="101200"/>
                        </a:lnSpc>
                        <a:buFont typeface="Wingdings"/>
                        <a:buChar char=""/>
                        <a:tabLst>
                          <a:tab pos="345440" algn="l"/>
                        </a:tabLst>
                      </a:pPr>
                      <a:r>
                        <a:rPr dirty="0" sz="8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8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implement</a:t>
                      </a:r>
                      <a:r>
                        <a:rPr dirty="0" sz="80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validate</a:t>
                      </a:r>
                      <a:r>
                        <a:rPr dirty="0" sz="8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8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RF</a:t>
                      </a:r>
                      <a:r>
                        <a:rPr dirty="0" sz="8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10">
                          <a:latin typeface="Times New Roman"/>
                          <a:cs typeface="Times New Roman"/>
                        </a:rPr>
                        <a:t>transmit–</a:t>
                      </a:r>
                      <a:r>
                        <a:rPr dirty="0" sz="8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receive</a:t>
                      </a:r>
                      <a:r>
                        <a:rPr dirty="0" sz="8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chain</a:t>
                      </a:r>
                      <a:r>
                        <a:rPr dirty="0" sz="8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8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polyphase</a:t>
                      </a:r>
                      <a:r>
                        <a:rPr dirty="0" sz="8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8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25">
                          <a:latin typeface="Times New Roman"/>
                          <a:cs typeface="Times New Roman"/>
                        </a:rPr>
                        <a:t>LFM</a:t>
                      </a:r>
                      <a:r>
                        <a:rPr dirty="0" sz="8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waveforms</a:t>
                      </a:r>
                      <a:r>
                        <a:rPr dirty="0" sz="8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8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oscilloscope</a:t>
                      </a:r>
                      <a:r>
                        <a:rPr dirty="0" sz="80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8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10">
                          <a:latin typeface="Times New Roman"/>
                          <a:cs typeface="Times New Roman"/>
                        </a:rPr>
                        <a:t>receiver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454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800" spc="-10">
                          <a:latin typeface="Times New Roman"/>
                          <a:cs typeface="Times New Roman"/>
                        </a:rPr>
                        <a:t>modules.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45440" marR="266065" indent="-173990">
                        <a:lnSpc>
                          <a:spcPct val="101200"/>
                        </a:lnSpc>
                        <a:buFont typeface="Wingdings"/>
                        <a:buChar char=""/>
                        <a:tabLst>
                          <a:tab pos="345440" algn="l"/>
                        </a:tabLst>
                      </a:pPr>
                      <a:r>
                        <a:rPr dirty="0" sz="8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digitize</a:t>
                      </a:r>
                      <a:r>
                        <a:rPr dirty="0" sz="8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8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received</a:t>
                      </a:r>
                      <a:r>
                        <a:rPr dirty="0" sz="8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signals</a:t>
                      </a:r>
                      <a:r>
                        <a:rPr dirty="0" sz="8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8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feed</a:t>
                      </a:r>
                      <a:r>
                        <a:rPr dirty="0" sz="8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20">
                          <a:latin typeface="Times New Roman"/>
                          <a:cs typeface="Times New Roman"/>
                        </a:rPr>
                        <a:t>them</a:t>
                      </a:r>
                      <a:r>
                        <a:rPr dirty="0" sz="8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back</a:t>
                      </a:r>
                      <a:r>
                        <a:rPr dirty="0" sz="8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8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the FPGA/DSP</a:t>
                      </a:r>
                      <a:r>
                        <a:rPr dirty="0" sz="8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board</a:t>
                      </a:r>
                      <a:r>
                        <a:rPr dirty="0" sz="8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800" spc="-10">
                          <a:latin typeface="Times New Roman"/>
                          <a:cs typeface="Times New Roman"/>
                        </a:rPr>
                        <a:t>evaluation</a:t>
                      </a:r>
                      <a:r>
                        <a:rPr dirty="0" sz="8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8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10">
                          <a:latin typeface="Times New Roman"/>
                          <a:cs typeface="Times New Roman"/>
                        </a:rPr>
                        <a:t>usage.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685">
                    <a:lnL w="9525">
                      <a:solidFill>
                        <a:srgbClr val="8EAADB"/>
                      </a:solidFill>
                      <a:prstDash val="solid"/>
                    </a:lnL>
                    <a:lnR w="12700">
                      <a:solidFill>
                        <a:srgbClr val="8EAADB"/>
                      </a:solidFill>
                      <a:prstDash val="solid"/>
                    </a:lnR>
                    <a:lnT w="9525">
                      <a:solidFill>
                        <a:srgbClr val="8EAADB"/>
                      </a:solidFill>
                      <a:prstDash val="solid"/>
                    </a:lnT>
                    <a:lnB w="6350">
                      <a:solidFill>
                        <a:srgbClr val="8EAADB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963930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FUNCTIONAL</a:t>
                      </a:r>
                      <a:r>
                        <a:rPr dirty="0" sz="1400" spc="-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DIAGRAM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685">
                    <a:lnL w="12700">
                      <a:solidFill>
                        <a:srgbClr val="8EAADB"/>
                      </a:solidFill>
                      <a:prstDash val="solid"/>
                    </a:lnL>
                    <a:lnR w="9525">
                      <a:solidFill>
                        <a:srgbClr val="8EAADB"/>
                      </a:solidFill>
                      <a:prstDash val="solid"/>
                    </a:lnR>
                    <a:lnT w="9525">
                      <a:solidFill>
                        <a:srgbClr val="8EAADB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5584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6685">
                    <a:lnL w="9525">
                      <a:solidFill>
                        <a:srgbClr val="8EAADB"/>
                      </a:solidFill>
                      <a:prstDash val="solid"/>
                    </a:lnL>
                    <a:lnR w="12700">
                      <a:solidFill>
                        <a:srgbClr val="8EAADB"/>
                      </a:solidFill>
                      <a:prstDash val="solid"/>
                    </a:lnR>
                    <a:lnT w="9525">
                      <a:solidFill>
                        <a:srgbClr val="8EAADB"/>
                      </a:solidFill>
                      <a:prstDash val="solid"/>
                    </a:lnT>
                    <a:lnB w="6350">
                      <a:solidFill>
                        <a:srgbClr val="8EAA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EAADB"/>
                      </a:solidFill>
                      <a:prstDash val="solid"/>
                    </a:lnL>
                    <a:lnR w="9525">
                      <a:solidFill>
                        <a:srgbClr val="8EAADB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82040">
                        <a:lnSpc>
                          <a:spcPct val="100000"/>
                        </a:lnSpc>
                      </a:pPr>
                      <a:r>
                        <a:rPr dirty="0" sz="9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900" spc="5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IMPLEMENTATION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47345" marR="370205" indent="-173990">
                        <a:lnSpc>
                          <a:spcPct val="101000"/>
                        </a:lnSpc>
                        <a:buFont typeface="Wingdings"/>
                        <a:buChar char=""/>
                        <a:tabLst>
                          <a:tab pos="347345" algn="l"/>
                        </a:tabLst>
                      </a:pP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HDL-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compatible</a:t>
                      </a:r>
                      <a:r>
                        <a:rPr dirty="0" sz="10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Simulink</a:t>
                      </a:r>
                      <a:r>
                        <a:rPr dirty="0" sz="10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dirty="0" sz="10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00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generating</a:t>
                      </a:r>
                      <a:r>
                        <a:rPr dirty="0" sz="10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polyphase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(P1–P4)</a:t>
                      </a:r>
                      <a:r>
                        <a:rPr dirty="0" sz="10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0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LFM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waveforms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0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designed.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47345" marR="266700" indent="-173990">
                        <a:lnSpc>
                          <a:spcPct val="101499"/>
                        </a:lnSpc>
                        <a:spcBef>
                          <a:spcPts val="10"/>
                        </a:spcBef>
                        <a:buFont typeface="Wingdings"/>
                        <a:buChar char=""/>
                        <a:tabLst>
                          <a:tab pos="347345" algn="l"/>
                        </a:tabLst>
                      </a:pPr>
                      <a:r>
                        <a:rPr dirty="0" sz="1000">
                          <a:latin typeface="Times New Roman"/>
                          <a:cs typeface="Times New Roman"/>
                        </a:rPr>
                        <a:t>Verilog</a:t>
                      </a:r>
                      <a:r>
                        <a:rPr dirty="0" sz="10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dirty="0" sz="10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0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generated</a:t>
                      </a:r>
                      <a:r>
                        <a:rPr dirty="0" sz="10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0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auto-code</a:t>
                      </a:r>
                      <a:r>
                        <a:rPr dirty="0" sz="10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generation</a:t>
                      </a:r>
                      <a:r>
                        <a:rPr dirty="0" sz="10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0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5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Simulink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00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dirty="0" sz="10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0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configure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AD9910</a:t>
                      </a:r>
                      <a:r>
                        <a:rPr dirty="0" sz="10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5">
                          <a:latin typeface="Times New Roman"/>
                          <a:cs typeface="Times New Roman"/>
                        </a:rPr>
                        <a:t>DDS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hardware.</a:t>
                      </a:r>
                      <a:r>
                        <a:rPr dirty="0" sz="10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0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Hardware-in-the-Loop</a:t>
                      </a:r>
                      <a:r>
                        <a:rPr dirty="0" sz="10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(HIL)</a:t>
                      </a:r>
                      <a:r>
                        <a:rPr dirty="0" sz="100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setup</a:t>
                      </a:r>
                      <a:r>
                        <a:rPr dirty="0" sz="10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established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0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interfacing the</a:t>
                      </a:r>
                      <a:r>
                        <a:rPr dirty="0" sz="10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FPGA/DSP</a:t>
                      </a:r>
                      <a:r>
                        <a:rPr dirty="0" sz="10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board</a:t>
                      </a:r>
                      <a:r>
                        <a:rPr dirty="0" sz="10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AD9910</a:t>
                      </a:r>
                      <a:r>
                        <a:rPr dirty="0" sz="10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5">
                          <a:latin typeface="Times New Roman"/>
                          <a:cs typeface="Times New Roman"/>
                        </a:rPr>
                        <a:t>DDS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0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ADC</a:t>
                      </a:r>
                      <a:r>
                        <a:rPr dirty="0" sz="10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modules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dirty="0" sz="10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latin typeface="Times New Roman"/>
                          <a:cs typeface="Times New Roman"/>
                        </a:rPr>
                        <a:t>SPI.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46710" indent="-173355">
                        <a:lnSpc>
                          <a:spcPct val="100000"/>
                        </a:lnSpc>
                        <a:spcBef>
                          <a:spcPts val="10"/>
                        </a:spcBef>
                        <a:buFont typeface="Wingdings"/>
                        <a:buChar char=""/>
                        <a:tabLst>
                          <a:tab pos="346710" algn="l"/>
                        </a:tabLst>
                      </a:pPr>
                      <a:r>
                        <a:rPr dirty="0" sz="10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generated</a:t>
                      </a:r>
                      <a:r>
                        <a:rPr dirty="0" sz="10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waveforms</a:t>
                      </a:r>
                      <a:r>
                        <a:rPr dirty="0" sz="10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00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transmitted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through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5">
                          <a:latin typeface="Times New Roman"/>
                          <a:cs typeface="Times New Roman"/>
                        </a:rPr>
                        <a:t>RF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47345" marR="225425">
                        <a:lnSpc>
                          <a:spcPct val="101000"/>
                        </a:lnSpc>
                        <a:spcBef>
                          <a:spcPts val="10"/>
                        </a:spcBef>
                      </a:pPr>
                      <a:r>
                        <a:rPr dirty="0" sz="1000">
                          <a:latin typeface="Times New Roman"/>
                          <a:cs typeface="Times New Roman"/>
                        </a:rPr>
                        <a:t>transmit–receive</a:t>
                      </a:r>
                      <a:r>
                        <a:rPr dirty="0" sz="10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chain</a:t>
                      </a:r>
                      <a:r>
                        <a:rPr dirty="0" sz="10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0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validated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00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oscilloscope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0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receiver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module.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47345" marR="241935" indent="-173990">
                        <a:lnSpc>
                          <a:spcPct val="101000"/>
                        </a:lnSpc>
                        <a:spcBef>
                          <a:spcPts val="15"/>
                        </a:spcBef>
                        <a:buFont typeface="Wingdings"/>
                        <a:buChar char=""/>
                        <a:tabLst>
                          <a:tab pos="347345" algn="l"/>
                        </a:tabLst>
                      </a:pPr>
                      <a:r>
                        <a:rPr dirty="0" sz="10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received</a:t>
                      </a:r>
                      <a:r>
                        <a:rPr dirty="0" sz="10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signals</a:t>
                      </a:r>
                      <a:r>
                        <a:rPr dirty="0" sz="10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0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digitized</a:t>
                      </a:r>
                      <a:r>
                        <a:rPr dirty="0" sz="10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0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ADC</a:t>
                      </a:r>
                      <a:r>
                        <a:rPr dirty="0" sz="10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0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fed</a:t>
                      </a:r>
                      <a:r>
                        <a:rPr dirty="0" sz="10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0">
                          <a:latin typeface="Times New Roman"/>
                          <a:cs typeface="Times New Roman"/>
                        </a:rPr>
                        <a:t>back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0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FPGA</a:t>
                      </a:r>
                      <a:r>
                        <a:rPr dirty="0" sz="10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evaluation.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9525">
                      <a:solidFill>
                        <a:srgbClr val="8EAADB"/>
                      </a:solidFill>
                      <a:prstDash val="solid"/>
                    </a:lnL>
                    <a:lnR w="9525">
                      <a:solidFill>
                        <a:srgbClr val="8EAADB"/>
                      </a:solidFill>
                      <a:prstDash val="solid"/>
                    </a:lnR>
                    <a:lnT w="9525">
                      <a:solidFill>
                        <a:srgbClr val="8EAADB"/>
                      </a:solidFill>
                      <a:prstDash val="solid"/>
                    </a:lnT>
                    <a:lnB w="9525">
                      <a:solidFill>
                        <a:srgbClr val="8EAA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8EAADB"/>
                      </a:solidFill>
                      <a:prstDash val="solid"/>
                    </a:lnL>
                    <a:lnR w="9525">
                      <a:solidFill>
                        <a:srgbClr val="8EAADB"/>
                      </a:solidFill>
                      <a:prstDash val="solid"/>
                    </a:lnR>
                  </a:tcPr>
                </a:tc>
              </a:tr>
              <a:tr h="1692910">
                <a:tc gridSpan="4">
                  <a:txBody>
                    <a:bodyPr/>
                    <a:lstStyle/>
                    <a:p>
                      <a:pPr marL="441959">
                        <a:lnSpc>
                          <a:spcPts val="1335"/>
                        </a:lnSpc>
                        <a:spcBef>
                          <a:spcPts val="420"/>
                        </a:spcBef>
                        <a:tabLst>
                          <a:tab pos="3578225" algn="l"/>
                          <a:tab pos="5839460" algn="l"/>
                        </a:tabLst>
                      </a:pPr>
                      <a:r>
                        <a:rPr dirty="0" sz="10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PRACTICAL</a:t>
                      </a:r>
                      <a:r>
                        <a:rPr dirty="0" sz="1050" spc="5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APPLICATIONS</a:t>
                      </a:r>
                      <a:r>
                        <a:rPr dirty="0" sz="1050" spc="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-13888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FUTURE</a:t>
                      </a:r>
                      <a:r>
                        <a:rPr dirty="0" baseline="-13888" sz="2100" spc="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13888" sz="21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SCOPE</a:t>
                      </a:r>
                      <a:r>
                        <a:rPr dirty="0" baseline="-13888" sz="2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41666" sz="9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REFERENCES</a:t>
                      </a:r>
                      <a:endParaRPr baseline="41666" sz="900">
                        <a:latin typeface="Times New Roman"/>
                        <a:cs typeface="Times New Roman"/>
                      </a:endParaRPr>
                    </a:p>
                    <a:p>
                      <a:pPr marL="1229360">
                        <a:lnSpc>
                          <a:spcPts val="860"/>
                        </a:lnSpc>
                        <a:tabLst>
                          <a:tab pos="5716270" algn="l"/>
                        </a:tabLst>
                      </a:pPr>
                      <a:r>
                        <a:rPr dirty="0" baseline="-34391" sz="1575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dirty="0" baseline="-34391" sz="15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1.</a:t>
                      </a:r>
                      <a:r>
                        <a:rPr dirty="0" sz="3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Abdullah,</a:t>
                      </a:r>
                      <a:r>
                        <a:rPr dirty="0" sz="3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Hikmat</a:t>
                      </a:r>
                      <a:r>
                        <a:rPr dirty="0" sz="3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N.,</a:t>
                      </a:r>
                      <a:r>
                        <a:rPr dirty="0" sz="3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3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Hussein</a:t>
                      </a:r>
                      <a:r>
                        <a:rPr dirty="0" sz="350" spc="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 spc="-25">
                          <a:latin typeface="Calibri"/>
                          <a:cs typeface="Calibri"/>
                        </a:rPr>
                        <a:t>A.</a:t>
                      </a:r>
                      <a:endParaRPr sz="350">
                        <a:latin typeface="Calibri"/>
                        <a:cs typeface="Calibri"/>
                      </a:endParaRPr>
                    </a:p>
                    <a:p>
                      <a:pPr marL="5716270">
                        <a:lnSpc>
                          <a:spcPts val="370"/>
                        </a:lnSpc>
                      </a:pPr>
                      <a:r>
                        <a:rPr dirty="0" sz="350">
                          <a:latin typeface="Calibri"/>
                          <a:cs typeface="Calibri"/>
                        </a:rPr>
                        <a:t>Hadi.</a:t>
                      </a:r>
                      <a:r>
                        <a:rPr dirty="0" sz="350" spc="2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"Design</a:t>
                      </a:r>
                      <a:r>
                        <a:rPr dirty="0" sz="350" spc="2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350" spc="2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Implemetation</a:t>
                      </a:r>
                      <a:r>
                        <a:rPr dirty="0" sz="350" spc="2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 spc="-25">
                          <a:latin typeface="Calibri"/>
                          <a:cs typeface="Calibri"/>
                        </a:rPr>
                        <a:t>of</a:t>
                      </a:r>
                      <a:endParaRPr sz="350">
                        <a:latin typeface="Calibri"/>
                        <a:cs typeface="Calibri"/>
                      </a:endParaRPr>
                    </a:p>
                    <a:p>
                      <a:pPr marL="5716270">
                        <a:lnSpc>
                          <a:spcPts val="405"/>
                        </a:lnSpc>
                        <a:spcBef>
                          <a:spcPts val="25"/>
                        </a:spcBef>
                      </a:pPr>
                      <a:r>
                        <a:rPr dirty="0" sz="350">
                          <a:latin typeface="Calibri"/>
                          <a:cs typeface="Calibri"/>
                        </a:rPr>
                        <a:t>FPGA</a:t>
                      </a:r>
                      <a:r>
                        <a:rPr dirty="0" sz="350" spc="2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based</a:t>
                      </a:r>
                      <a:r>
                        <a:rPr dirty="0" sz="350" spc="229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Software</a:t>
                      </a:r>
                      <a:r>
                        <a:rPr dirty="0" sz="350" spc="2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Defined</a:t>
                      </a:r>
                      <a:r>
                        <a:rPr dirty="0" sz="350" spc="2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 spc="-10">
                          <a:latin typeface="Calibri"/>
                          <a:cs typeface="Calibri"/>
                        </a:rPr>
                        <a:t>Radio</a:t>
                      </a:r>
                      <a:endParaRPr sz="350">
                        <a:latin typeface="Calibri"/>
                        <a:cs typeface="Calibri"/>
                      </a:endParaRPr>
                    </a:p>
                    <a:p>
                      <a:pPr marL="3123565" indent="-173355">
                        <a:lnSpc>
                          <a:spcPts val="725"/>
                        </a:lnSpc>
                        <a:buFont typeface="Arial MT"/>
                        <a:buChar char="•"/>
                        <a:tabLst>
                          <a:tab pos="3123565" algn="l"/>
                          <a:tab pos="5716270" algn="l"/>
                        </a:tabLst>
                      </a:pPr>
                      <a:r>
                        <a:rPr dirty="0" sz="800">
                          <a:latin typeface="Times New Roman"/>
                          <a:cs typeface="Times New Roman"/>
                        </a:rPr>
                        <a:t>The system</a:t>
                      </a:r>
                      <a:r>
                        <a:rPr dirty="0" sz="8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sz="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dirty="0" sz="8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allowing</a:t>
                      </a:r>
                      <a:r>
                        <a:rPr dirty="0" sz="8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10">
                          <a:latin typeface="Times New Roman"/>
                          <a:cs typeface="Times New Roman"/>
                        </a:rPr>
                        <a:t>waveform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63492" sz="525">
                          <a:latin typeface="Calibri"/>
                          <a:cs typeface="Calibri"/>
                        </a:rPr>
                        <a:t>Using</a:t>
                      </a:r>
                      <a:r>
                        <a:rPr dirty="0" baseline="63492" sz="525" spc="11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63492" sz="525">
                          <a:latin typeface="Calibri"/>
                          <a:cs typeface="Calibri"/>
                        </a:rPr>
                        <a:t>Simulink</a:t>
                      </a:r>
                      <a:r>
                        <a:rPr dirty="0" baseline="63492" sz="525" spc="1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63492" sz="525">
                          <a:latin typeface="Calibri"/>
                          <a:cs typeface="Calibri"/>
                        </a:rPr>
                        <a:t>HDL</a:t>
                      </a:r>
                      <a:r>
                        <a:rPr dirty="0" baseline="63492" sz="525" spc="5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63492" sz="525">
                          <a:latin typeface="Calibri"/>
                          <a:cs typeface="Calibri"/>
                        </a:rPr>
                        <a:t>Coder."</a:t>
                      </a:r>
                      <a:r>
                        <a:rPr dirty="0" baseline="63492" sz="525" spc="8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63492" sz="525" spc="-15">
                          <a:latin typeface="Calibri"/>
                          <a:cs typeface="Calibri"/>
                        </a:rPr>
                        <a:t>(2009).</a:t>
                      </a:r>
                      <a:endParaRPr baseline="63492" sz="525">
                        <a:latin typeface="Calibri"/>
                        <a:cs typeface="Calibri"/>
                      </a:endParaRPr>
                    </a:p>
                    <a:p>
                      <a:pPr marL="5716270">
                        <a:lnSpc>
                          <a:spcPts val="190"/>
                        </a:lnSpc>
                        <a:tabLst>
                          <a:tab pos="5951220" algn="l"/>
                          <a:tab pos="6303010" algn="l"/>
                        </a:tabLst>
                      </a:pPr>
                      <a:r>
                        <a:rPr dirty="0" sz="350" spc="-25">
                          <a:latin typeface="Calibri"/>
                          <a:cs typeface="Calibri"/>
                        </a:rPr>
                        <a:t>2.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350" spc="-10">
                          <a:latin typeface="Calibri"/>
                          <a:cs typeface="Calibri"/>
                        </a:rPr>
                        <a:t>AD9910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350" spc="-10">
                          <a:latin typeface="Calibri"/>
                          <a:cs typeface="Calibri"/>
                        </a:rPr>
                        <a:t>Datasheet,</a:t>
                      </a:r>
                      <a:endParaRPr sz="350">
                        <a:latin typeface="Calibri"/>
                        <a:cs typeface="Calibri"/>
                      </a:endParaRPr>
                    </a:p>
                    <a:p>
                      <a:pPr marL="299720" indent="-173355">
                        <a:lnSpc>
                          <a:spcPts val="710"/>
                        </a:lnSpc>
                        <a:buFont typeface="Wingdings"/>
                        <a:buChar char=""/>
                        <a:tabLst>
                          <a:tab pos="299720" algn="l"/>
                          <a:tab pos="3123565" algn="l"/>
                          <a:tab pos="5716270" algn="l"/>
                        </a:tabLst>
                      </a:pPr>
                      <a:r>
                        <a:rPr dirty="0" baseline="6535" sz="1275">
                          <a:latin typeface="Times New Roman"/>
                          <a:cs typeface="Times New Roman"/>
                        </a:rPr>
                        <a:t>Radar</a:t>
                      </a:r>
                      <a:r>
                        <a:rPr dirty="0" baseline="6535" sz="1275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6535" sz="1275">
                          <a:latin typeface="Times New Roman"/>
                          <a:cs typeface="Times New Roman"/>
                        </a:rPr>
                        <a:t>waveform</a:t>
                      </a:r>
                      <a:r>
                        <a:rPr dirty="0" baseline="6535" sz="1275" spc="52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6535" sz="1275">
                          <a:latin typeface="Times New Roman"/>
                          <a:cs typeface="Times New Roman"/>
                        </a:rPr>
                        <a:t>generation</a:t>
                      </a:r>
                      <a:r>
                        <a:rPr dirty="0" baseline="6535" sz="1275" spc="52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6535" sz="1275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baseline="6535" sz="1275" spc="4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6535" sz="1275">
                          <a:latin typeface="Times New Roman"/>
                          <a:cs typeface="Times New Roman"/>
                        </a:rPr>
                        <a:t>pulse</a:t>
                      </a:r>
                      <a:r>
                        <a:rPr dirty="0" baseline="6535" sz="1275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6535" sz="1275">
                          <a:latin typeface="Times New Roman"/>
                          <a:cs typeface="Times New Roman"/>
                        </a:rPr>
                        <a:t>compression</a:t>
                      </a:r>
                      <a:r>
                        <a:rPr dirty="0" baseline="6535" sz="1275" spc="52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6535" sz="1275" spc="-37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baseline="6535" sz="1275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parameters</a:t>
                      </a:r>
                      <a:r>
                        <a:rPr dirty="0" sz="8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such as</a:t>
                      </a:r>
                      <a:r>
                        <a:rPr dirty="0" sz="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frequency</a:t>
                      </a:r>
                      <a:r>
                        <a:rPr dirty="0" sz="8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and phase</a:t>
                      </a:r>
                      <a:r>
                        <a:rPr dirty="0" sz="8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8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10">
                          <a:latin typeface="Times New Roman"/>
                          <a:cs typeface="Times New Roman"/>
                        </a:rPr>
                        <a:t>changed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71428" sz="525" spc="-15">
                          <a:latin typeface="Calibri"/>
                          <a:cs typeface="Calibri"/>
                        </a:rPr>
                        <a:t>https://</a:t>
                      </a:r>
                      <a:r>
                        <a:rPr dirty="0" baseline="71428" sz="525" spc="-15">
                          <a:latin typeface="Calibri"/>
                          <a:cs typeface="Calibri"/>
                          <a:hlinkClick r:id="rId3"/>
                        </a:rPr>
                        <a:t>www.analog.com/media/en/tec</a:t>
                      </a:r>
                      <a:endParaRPr baseline="71428" sz="525">
                        <a:latin typeface="Calibri"/>
                        <a:cs typeface="Calibri"/>
                      </a:endParaRPr>
                    </a:p>
                    <a:p>
                      <a:pPr marL="5716270">
                        <a:lnSpc>
                          <a:spcPts val="200"/>
                        </a:lnSpc>
                      </a:pPr>
                      <a:r>
                        <a:rPr dirty="0" sz="350">
                          <a:latin typeface="Calibri"/>
                          <a:cs typeface="Calibri"/>
                        </a:rPr>
                        <a:t>hnical-</a:t>
                      </a:r>
                      <a:r>
                        <a:rPr dirty="0" sz="350" spc="-10">
                          <a:latin typeface="Calibri"/>
                          <a:cs typeface="Calibri"/>
                        </a:rPr>
                        <a:t>documentation/data-</a:t>
                      </a:r>
                      <a:endParaRPr sz="350">
                        <a:latin typeface="Calibri"/>
                        <a:cs typeface="Calibri"/>
                      </a:endParaRPr>
                    </a:p>
                    <a:p>
                      <a:pPr marL="299720">
                        <a:lnSpc>
                          <a:spcPts val="665"/>
                        </a:lnSpc>
                        <a:spcBef>
                          <a:spcPts val="40"/>
                        </a:spcBef>
                        <a:tabLst>
                          <a:tab pos="3123565" algn="l"/>
                          <a:tab pos="5716270" algn="l"/>
                        </a:tabLst>
                      </a:pPr>
                      <a:r>
                        <a:rPr dirty="0" sz="850">
                          <a:latin typeface="Times New Roman"/>
                          <a:cs typeface="Times New Roman"/>
                        </a:rPr>
                        <a:t>target</a:t>
                      </a:r>
                      <a:r>
                        <a:rPr dirty="0" sz="85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dirty="0" sz="85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>
                          <a:latin typeface="Times New Roman"/>
                          <a:cs typeface="Times New Roman"/>
                        </a:rPr>
                        <a:t>applications.</a:t>
                      </a:r>
                      <a:r>
                        <a:rPr dirty="0" sz="85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during</a:t>
                      </a:r>
                      <a:r>
                        <a:rPr dirty="0" sz="8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10">
                          <a:latin typeface="Times New Roman"/>
                          <a:cs typeface="Times New Roman"/>
                        </a:rPr>
                        <a:t>operation.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79365" sz="525" spc="-15">
                          <a:latin typeface="Calibri"/>
                          <a:cs typeface="Calibri"/>
                        </a:rPr>
                        <a:t>sheets/ad9910.pdf</a:t>
                      </a:r>
                      <a:endParaRPr baseline="79365" sz="525">
                        <a:latin typeface="Calibri"/>
                        <a:cs typeface="Calibri"/>
                      </a:endParaRPr>
                    </a:p>
                    <a:p>
                      <a:pPr marL="5716270">
                        <a:lnSpc>
                          <a:spcPts val="200"/>
                        </a:lnSpc>
                      </a:pPr>
                      <a:r>
                        <a:rPr dirty="0" sz="350">
                          <a:latin typeface="Calibri"/>
                          <a:cs typeface="Calibri"/>
                        </a:rPr>
                        <a:t>3.</a:t>
                      </a:r>
                      <a:r>
                        <a:rPr dirty="0" sz="3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Chen,</a:t>
                      </a:r>
                      <a:r>
                        <a:rPr dirty="0" sz="3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Dongdong,</a:t>
                      </a:r>
                      <a:r>
                        <a:rPr dirty="0" sz="3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Xinhui</a:t>
                      </a:r>
                      <a:r>
                        <a:rPr dirty="0" sz="350" spc="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Cui,</a:t>
                      </a:r>
                      <a:r>
                        <a:rPr dirty="0" sz="3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 spc="-10">
                          <a:latin typeface="Calibri"/>
                          <a:cs typeface="Calibri"/>
                        </a:rPr>
                        <a:t>Qidong</a:t>
                      </a:r>
                      <a:endParaRPr sz="350">
                        <a:latin typeface="Calibri"/>
                        <a:cs typeface="Calibri"/>
                      </a:endParaRPr>
                    </a:p>
                    <a:p>
                      <a:pPr marL="5716270">
                        <a:lnSpc>
                          <a:spcPts val="285"/>
                        </a:lnSpc>
                        <a:spcBef>
                          <a:spcPts val="25"/>
                        </a:spcBef>
                      </a:pPr>
                      <a:r>
                        <a:rPr dirty="0" sz="350">
                          <a:latin typeface="Calibri"/>
                          <a:cs typeface="Calibri"/>
                        </a:rPr>
                        <a:t>Zhang,</a:t>
                      </a:r>
                      <a:r>
                        <a:rPr dirty="0" sz="3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Di</a:t>
                      </a:r>
                      <a:r>
                        <a:rPr dirty="0" sz="3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Li,</a:t>
                      </a:r>
                      <a:r>
                        <a:rPr dirty="0" sz="3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Wenyang</a:t>
                      </a:r>
                      <a:r>
                        <a:rPr dirty="0" sz="3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Cheng,</a:t>
                      </a:r>
                      <a:r>
                        <a:rPr dirty="0" sz="3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 spc="-10">
                          <a:latin typeface="Calibri"/>
                          <a:cs typeface="Calibri"/>
                        </a:rPr>
                        <a:t>Chunlong</a:t>
                      </a:r>
                      <a:endParaRPr sz="350">
                        <a:latin typeface="Calibri"/>
                        <a:cs typeface="Calibri"/>
                      </a:endParaRPr>
                    </a:p>
                    <a:p>
                      <a:pPr marL="299720" indent="-173355">
                        <a:lnSpc>
                          <a:spcPts val="750"/>
                        </a:lnSpc>
                        <a:buFont typeface="Wingdings"/>
                        <a:buChar char=""/>
                        <a:tabLst>
                          <a:tab pos="299720" algn="l"/>
                          <a:tab pos="2950210" algn="l"/>
                          <a:tab pos="3123565" algn="l"/>
                          <a:tab pos="5716270" algn="l"/>
                        </a:tabLst>
                      </a:pPr>
                      <a:r>
                        <a:rPr dirty="0" sz="850">
                          <a:latin typeface="Times New Roman"/>
                          <a:cs typeface="Times New Roman"/>
                        </a:rPr>
                        <a:t>Real-time</a:t>
                      </a:r>
                      <a:r>
                        <a:rPr dirty="0" sz="85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latin typeface="Times New Roman"/>
                          <a:cs typeface="Times New Roman"/>
                        </a:rPr>
                        <a:t>validation</a:t>
                      </a:r>
                      <a:r>
                        <a:rPr dirty="0" sz="85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8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latin typeface="Times New Roman"/>
                          <a:cs typeface="Times New Roman"/>
                        </a:rPr>
                        <a:t>DDS-based</a:t>
                      </a:r>
                      <a:r>
                        <a:rPr dirty="0" sz="8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latin typeface="Times New Roman"/>
                          <a:cs typeface="Times New Roman"/>
                        </a:rPr>
                        <a:t>signal</a:t>
                      </a:r>
                      <a:r>
                        <a:rPr dirty="0" sz="8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>
                          <a:latin typeface="Times New Roman"/>
                          <a:cs typeface="Times New Roman"/>
                        </a:rPr>
                        <a:t>generation</a:t>
                      </a:r>
                      <a:r>
                        <a:rPr dirty="0" sz="85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3472" sz="1200" spc="-75">
                          <a:latin typeface="Arial MT"/>
                          <a:cs typeface="Arial MT"/>
                        </a:rPr>
                        <a:t>•</a:t>
                      </a:r>
                      <a:r>
                        <a:rPr dirty="0" baseline="3472" sz="12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baseline="3472" sz="120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dirty="0" baseline="3472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3472" sz="1200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dirty="0" baseline="3472" sz="1200" spc="37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3472" sz="1200">
                          <a:latin typeface="Times New Roman"/>
                          <a:cs typeface="Times New Roman"/>
                        </a:rPr>
                        <a:t>help</a:t>
                      </a:r>
                      <a:r>
                        <a:rPr dirty="0" baseline="3472" sz="12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3472" sz="12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baseline="3472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3472" sz="120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dirty="0" baseline="3472" sz="12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3472" sz="1200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dirty="0" baseline="3472" sz="12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3472" sz="1200">
                          <a:latin typeface="Times New Roman"/>
                          <a:cs typeface="Times New Roman"/>
                        </a:rPr>
                        <a:t>signal</a:t>
                      </a:r>
                      <a:r>
                        <a:rPr dirty="0" baseline="3472" sz="1200" spc="7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3472" sz="1200" spc="-15">
                          <a:latin typeface="Times New Roman"/>
                          <a:cs typeface="Times New Roman"/>
                        </a:rPr>
                        <a:t>conditions</a:t>
                      </a:r>
                      <a:r>
                        <a:rPr dirty="0" baseline="3472" sz="12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31746" sz="525">
                          <a:latin typeface="Calibri"/>
                          <a:cs typeface="Calibri"/>
                        </a:rPr>
                        <a:t>Fei,</a:t>
                      </a:r>
                      <a:r>
                        <a:rPr dirty="0" baseline="31746" sz="525" spc="26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1746" sz="525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baseline="31746" sz="525" spc="2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1746" sz="525">
                          <a:latin typeface="Calibri"/>
                          <a:cs typeface="Calibri"/>
                        </a:rPr>
                        <a:t>Yintang</a:t>
                      </a:r>
                      <a:r>
                        <a:rPr dirty="0" baseline="31746" sz="525" spc="27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1746" sz="525">
                          <a:latin typeface="Calibri"/>
                          <a:cs typeface="Calibri"/>
                        </a:rPr>
                        <a:t>Yang.</a:t>
                      </a:r>
                      <a:r>
                        <a:rPr dirty="0" baseline="31746" sz="525" spc="27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1746" sz="525">
                          <a:latin typeface="Calibri"/>
                          <a:cs typeface="Calibri"/>
                        </a:rPr>
                        <a:t>"A</a:t>
                      </a:r>
                      <a:r>
                        <a:rPr dirty="0" baseline="31746" sz="525" spc="26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1746" sz="525">
                          <a:latin typeface="Calibri"/>
                          <a:cs typeface="Calibri"/>
                        </a:rPr>
                        <a:t>survey</a:t>
                      </a:r>
                      <a:r>
                        <a:rPr dirty="0" baseline="31746" sz="525" spc="26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1746" sz="525" spc="-37">
                          <a:latin typeface="Calibri"/>
                          <a:cs typeface="Calibri"/>
                        </a:rPr>
                        <a:t>on</a:t>
                      </a:r>
                      <a:endParaRPr baseline="31746" sz="525">
                        <a:latin typeface="Calibri"/>
                        <a:cs typeface="Calibri"/>
                      </a:endParaRPr>
                    </a:p>
                    <a:p>
                      <a:pPr marL="5716270">
                        <a:lnSpc>
                          <a:spcPts val="145"/>
                        </a:lnSpc>
                      </a:pPr>
                      <a:r>
                        <a:rPr dirty="0" sz="350">
                          <a:latin typeface="Calibri"/>
                          <a:cs typeface="Calibri"/>
                        </a:rPr>
                        <a:t>analog-to-digital</a:t>
                      </a:r>
                      <a:r>
                        <a:rPr dirty="0" sz="350" spc="3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converter</a:t>
                      </a:r>
                      <a:r>
                        <a:rPr dirty="0" sz="350" spc="3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 spc="-10">
                          <a:latin typeface="Calibri"/>
                          <a:cs typeface="Calibri"/>
                        </a:rPr>
                        <a:t>integrated</a:t>
                      </a:r>
                      <a:endParaRPr sz="350">
                        <a:latin typeface="Calibri"/>
                        <a:cs typeface="Calibri"/>
                      </a:endParaRPr>
                    </a:p>
                    <a:p>
                      <a:pPr marL="299720">
                        <a:lnSpc>
                          <a:spcPts val="755"/>
                        </a:lnSpc>
                        <a:tabLst>
                          <a:tab pos="3123565" algn="l"/>
                          <a:tab pos="5716270" algn="l"/>
                        </a:tabLst>
                      </a:pPr>
                      <a:r>
                        <a:rPr dirty="0" baseline="-9803" sz="1275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baseline="-9803" sz="1275" spc="7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9803" sz="1275">
                          <a:latin typeface="Times New Roman"/>
                          <a:cs typeface="Times New Roman"/>
                        </a:rPr>
                        <a:t>Hardware-in-</a:t>
                      </a:r>
                      <a:r>
                        <a:rPr dirty="0" baseline="-9803" sz="1275" spc="-15">
                          <a:latin typeface="Times New Roman"/>
                          <a:cs typeface="Times New Roman"/>
                        </a:rPr>
                        <a:t>the-</a:t>
                      </a:r>
                      <a:r>
                        <a:rPr dirty="0" baseline="-9803" sz="1275">
                          <a:latin typeface="Times New Roman"/>
                          <a:cs typeface="Times New Roman"/>
                        </a:rPr>
                        <a:t>Loop</a:t>
                      </a:r>
                      <a:r>
                        <a:rPr dirty="0" baseline="-9803" sz="1275" spc="8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9803" sz="1275">
                          <a:latin typeface="Times New Roman"/>
                          <a:cs typeface="Times New Roman"/>
                        </a:rPr>
                        <a:t>(HIL)</a:t>
                      </a:r>
                      <a:r>
                        <a:rPr dirty="0" baseline="-9803" sz="1275" spc="4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9803" sz="1275" spc="-15">
                          <a:latin typeface="Times New Roman"/>
                          <a:cs typeface="Times New Roman"/>
                        </a:rPr>
                        <a:t>testing.</a:t>
                      </a:r>
                      <a:r>
                        <a:rPr dirty="0" baseline="-9803" sz="1275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dirty="0" sz="8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redesigning</a:t>
                      </a:r>
                      <a:r>
                        <a:rPr dirty="0" sz="8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the hardware</a:t>
                      </a:r>
                      <a:r>
                        <a:rPr dirty="0" sz="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improve</a:t>
                      </a:r>
                      <a:r>
                        <a:rPr dirty="0" sz="8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25">
                          <a:latin typeface="Times New Roman"/>
                          <a:cs typeface="Times New Roman"/>
                        </a:rPr>
                        <a:t>re-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31746" sz="525" spc="15">
                          <a:latin typeface="Calibri"/>
                          <a:cs typeface="Calibri"/>
                        </a:rPr>
                        <a:t>circuits</a:t>
                      </a:r>
                      <a:r>
                        <a:rPr dirty="0" baseline="31746" sz="525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1746" sz="525" spc="15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baseline="31746" sz="525" spc="5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1746" sz="525" spc="15">
                          <a:latin typeface="Calibri"/>
                          <a:cs typeface="Calibri"/>
                        </a:rPr>
                        <a:t>miniaturized</a:t>
                      </a:r>
                      <a:r>
                        <a:rPr dirty="0" baseline="31746" sz="525" spc="8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1746" sz="525" spc="15"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baseline="31746" sz="525" spc="4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1746" sz="525" spc="-15">
                          <a:latin typeface="Calibri"/>
                          <a:cs typeface="Calibri"/>
                        </a:rPr>
                        <a:t>resolution</a:t>
                      </a:r>
                      <a:endParaRPr baseline="31746" sz="525">
                        <a:latin typeface="Calibri"/>
                        <a:cs typeface="Calibri"/>
                      </a:endParaRPr>
                    </a:p>
                    <a:p>
                      <a:pPr marL="5716270">
                        <a:lnSpc>
                          <a:spcPts val="295"/>
                        </a:lnSpc>
                        <a:tabLst>
                          <a:tab pos="6048375" algn="l"/>
                          <a:tab pos="6343015" algn="l"/>
                        </a:tabLst>
                      </a:pPr>
                      <a:r>
                        <a:rPr dirty="0" sz="350" spc="-10">
                          <a:latin typeface="Calibri"/>
                          <a:cs typeface="Calibri"/>
                        </a:rPr>
                        <a:t>ultrasonic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350" spc="-10">
                          <a:latin typeface="Calibri"/>
                          <a:cs typeface="Calibri"/>
                        </a:rPr>
                        <a:t>imaging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350" spc="-10">
                          <a:latin typeface="Calibri"/>
                          <a:cs typeface="Calibri"/>
                        </a:rPr>
                        <a:t>system."</a:t>
                      </a:r>
                      <a:endParaRPr sz="350">
                        <a:latin typeface="Calibri"/>
                        <a:cs typeface="Calibri"/>
                      </a:endParaRPr>
                    </a:p>
                    <a:p>
                      <a:pPr marL="299720" indent="-173355">
                        <a:lnSpc>
                          <a:spcPts val="705"/>
                        </a:lnSpc>
                        <a:buFont typeface="Wingdings"/>
                        <a:buChar char=""/>
                        <a:tabLst>
                          <a:tab pos="299720" algn="l"/>
                          <a:tab pos="3123565" algn="l"/>
                          <a:tab pos="5716270" algn="l"/>
                        </a:tabLst>
                      </a:pPr>
                      <a:r>
                        <a:rPr dirty="0" sz="850">
                          <a:latin typeface="Times New Roman"/>
                          <a:cs typeface="Times New Roman"/>
                        </a:rPr>
                        <a:t>Rapid</a:t>
                      </a:r>
                      <a:r>
                        <a:rPr dirty="0" sz="85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latin typeface="Times New Roman"/>
                          <a:cs typeface="Times New Roman"/>
                        </a:rPr>
                        <a:t>prototyping</a:t>
                      </a:r>
                      <a:r>
                        <a:rPr dirty="0" sz="85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latin typeface="Times New Roman"/>
                          <a:cs typeface="Times New Roman"/>
                        </a:rPr>
                        <a:t>and verification</a:t>
                      </a:r>
                      <a:r>
                        <a:rPr dirty="0" sz="85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85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latin typeface="Times New Roman"/>
                          <a:cs typeface="Times New Roman"/>
                        </a:rPr>
                        <a:t>FPGA-</a:t>
                      </a:r>
                      <a:r>
                        <a:rPr dirty="0" sz="850" spc="-2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85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17361" sz="1200">
                          <a:latin typeface="Times New Roman"/>
                          <a:cs typeface="Times New Roman"/>
                        </a:rPr>
                        <a:t>usability</a:t>
                      </a:r>
                      <a:r>
                        <a:rPr dirty="0" baseline="17361" sz="12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17361" sz="12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baseline="17361" sz="12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17361" sz="12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baseline="17361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17361" sz="1200" spc="-15">
                          <a:latin typeface="Times New Roman"/>
                          <a:cs typeface="Times New Roman"/>
                        </a:rPr>
                        <a:t>system.</a:t>
                      </a:r>
                      <a:r>
                        <a:rPr dirty="0" baseline="17361" sz="12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71428" sz="525">
                          <a:latin typeface="Calibri"/>
                          <a:cs typeface="Calibri"/>
                        </a:rPr>
                        <a:t>Micromachines</a:t>
                      </a:r>
                      <a:r>
                        <a:rPr dirty="0" baseline="71428" sz="525" spc="179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71428" sz="525">
                          <a:latin typeface="Calibri"/>
                          <a:cs typeface="Calibri"/>
                        </a:rPr>
                        <a:t>13,</a:t>
                      </a:r>
                      <a:r>
                        <a:rPr dirty="0" baseline="71428" sz="525" spc="6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71428" sz="525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baseline="71428" sz="525" spc="89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71428" sz="525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baseline="71428" sz="525" spc="89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71428" sz="525">
                          <a:latin typeface="Calibri"/>
                          <a:cs typeface="Calibri"/>
                        </a:rPr>
                        <a:t>(2022):</a:t>
                      </a:r>
                      <a:r>
                        <a:rPr dirty="0" baseline="71428" sz="525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71428" sz="525" spc="-30">
                          <a:latin typeface="Calibri"/>
                          <a:cs typeface="Calibri"/>
                        </a:rPr>
                        <a:t>114.</a:t>
                      </a:r>
                      <a:endParaRPr baseline="71428" sz="525">
                        <a:latin typeface="Calibri"/>
                        <a:cs typeface="Calibri"/>
                      </a:endParaRPr>
                    </a:p>
                    <a:p>
                      <a:pPr marL="5716270">
                        <a:lnSpc>
                          <a:spcPts val="110"/>
                        </a:lnSpc>
                      </a:pPr>
                      <a:r>
                        <a:rPr dirty="0" sz="350">
                          <a:latin typeface="Calibri"/>
                          <a:cs typeface="Calibri"/>
                        </a:rPr>
                        <a:t>4.</a:t>
                      </a:r>
                      <a:r>
                        <a:rPr dirty="0" sz="350" spc="1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Corelis,</a:t>
                      </a:r>
                      <a:r>
                        <a:rPr dirty="0" sz="350" spc="1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Inc..</a:t>
                      </a:r>
                      <a:r>
                        <a:rPr dirty="0" sz="350" spc="1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BusPro</a:t>
                      </a:r>
                      <a:r>
                        <a:rPr dirty="0" sz="350" spc="345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High-</a:t>
                      </a:r>
                      <a:r>
                        <a:rPr dirty="0" sz="350" spc="-10">
                          <a:latin typeface="Calibri"/>
                          <a:cs typeface="Calibri"/>
                        </a:rPr>
                        <a:t>Speed</a:t>
                      </a:r>
                      <a:endParaRPr sz="350">
                        <a:latin typeface="Calibri"/>
                        <a:cs typeface="Calibri"/>
                      </a:endParaRPr>
                    </a:p>
                    <a:p>
                      <a:pPr marL="299720">
                        <a:lnSpc>
                          <a:spcPts val="750"/>
                        </a:lnSpc>
                        <a:tabLst>
                          <a:tab pos="2950210" algn="l"/>
                          <a:tab pos="3123565" algn="l"/>
                          <a:tab pos="5716270" algn="l"/>
                        </a:tabLst>
                      </a:pPr>
                      <a:r>
                        <a:rPr dirty="0" baseline="-19607" sz="1275">
                          <a:latin typeface="Times New Roman"/>
                          <a:cs typeface="Times New Roman"/>
                        </a:rPr>
                        <a:t>waveform</a:t>
                      </a:r>
                      <a:r>
                        <a:rPr dirty="0" baseline="-19607" sz="1275" spc="4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19607" sz="1275">
                          <a:latin typeface="Times New Roman"/>
                          <a:cs typeface="Times New Roman"/>
                        </a:rPr>
                        <a:t>generators</a:t>
                      </a:r>
                      <a:r>
                        <a:rPr dirty="0" baseline="-19607" sz="1275" spc="4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19607" sz="1275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baseline="-19607" sz="1275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19607" sz="1275">
                          <a:latin typeface="Times New Roman"/>
                          <a:cs typeface="Times New Roman"/>
                        </a:rPr>
                        <a:t>defence</a:t>
                      </a:r>
                      <a:r>
                        <a:rPr dirty="0" baseline="-19607" sz="1275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19607" sz="1275">
                          <a:latin typeface="Times New Roman"/>
                          <a:cs typeface="Times New Roman"/>
                        </a:rPr>
                        <a:t>RF</a:t>
                      </a:r>
                      <a:r>
                        <a:rPr dirty="0" baseline="-19607" sz="1275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19607" sz="1275" spc="-15">
                          <a:latin typeface="Times New Roman"/>
                          <a:cs typeface="Times New Roman"/>
                        </a:rPr>
                        <a:t>systems.</a:t>
                      </a:r>
                      <a:r>
                        <a:rPr dirty="0" baseline="-19607" sz="1275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00" spc="-50">
                          <a:latin typeface="Arial MT"/>
                          <a:cs typeface="Arial MT"/>
                        </a:rPr>
                        <a:t>•</a:t>
                      </a:r>
                      <a:r>
                        <a:rPr dirty="0" sz="8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Additional</a:t>
                      </a:r>
                      <a:r>
                        <a:rPr dirty="0" sz="8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dirty="0" sz="8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tools</a:t>
                      </a:r>
                      <a:r>
                        <a:rPr dirty="0" sz="8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added</a:t>
                      </a:r>
                      <a:r>
                        <a:rPr dirty="0" sz="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10">
                          <a:latin typeface="Times New Roman"/>
                          <a:cs typeface="Times New Roman"/>
                        </a:rPr>
                        <a:t>automatically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47619" sz="525">
                          <a:latin typeface="Calibri"/>
                          <a:cs typeface="Calibri"/>
                        </a:rPr>
                        <a:t>Multi-IO</a:t>
                      </a:r>
                      <a:r>
                        <a:rPr dirty="0" baseline="47619" sz="525" spc="5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47619" sz="525">
                          <a:latin typeface="Calibri"/>
                          <a:cs typeface="Calibri"/>
                        </a:rPr>
                        <a:t>SPI</a:t>
                      </a:r>
                      <a:r>
                        <a:rPr dirty="0" baseline="47619" sz="525" spc="509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47619" sz="525">
                          <a:latin typeface="Calibri"/>
                          <a:cs typeface="Calibri"/>
                        </a:rPr>
                        <a:t>Host,</a:t>
                      </a:r>
                      <a:r>
                        <a:rPr dirty="0" baseline="47619" sz="525" spc="51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47619" sz="525">
                          <a:latin typeface="Calibri"/>
                          <a:cs typeface="Calibri"/>
                        </a:rPr>
                        <a:t>Debugger,</a:t>
                      </a:r>
                      <a:r>
                        <a:rPr dirty="0" baseline="47619" sz="525" spc="509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47619" sz="525" spc="-37">
                          <a:latin typeface="Calibri"/>
                          <a:cs typeface="Calibri"/>
                        </a:rPr>
                        <a:t>and</a:t>
                      </a:r>
                      <a:endParaRPr baseline="47619" sz="525">
                        <a:latin typeface="Calibri"/>
                        <a:cs typeface="Calibri"/>
                      </a:endParaRPr>
                    </a:p>
                    <a:p>
                      <a:pPr marL="5716270">
                        <a:lnSpc>
                          <a:spcPts val="180"/>
                        </a:lnSpc>
                      </a:pPr>
                      <a:r>
                        <a:rPr dirty="0" sz="350">
                          <a:latin typeface="Calibri"/>
                          <a:cs typeface="Calibri"/>
                        </a:rPr>
                        <a:t>Programmer</a:t>
                      </a:r>
                      <a:r>
                        <a:rPr dirty="0" sz="350" spc="1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User’s</a:t>
                      </a:r>
                      <a:r>
                        <a:rPr dirty="0" sz="350" spc="1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Manual,</a:t>
                      </a:r>
                      <a:r>
                        <a:rPr dirty="0" sz="350" spc="1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Edition</a:t>
                      </a:r>
                      <a:r>
                        <a:rPr dirty="0" sz="350" spc="1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 spc="-25">
                          <a:latin typeface="Calibri"/>
                          <a:cs typeface="Calibri"/>
                        </a:rPr>
                        <a:t>3.</a:t>
                      </a:r>
                      <a:endParaRPr sz="350">
                        <a:latin typeface="Calibri"/>
                        <a:cs typeface="Calibri"/>
                      </a:endParaRPr>
                    </a:p>
                    <a:p>
                      <a:pPr marL="299720" indent="-173355">
                        <a:lnSpc>
                          <a:spcPts val="750"/>
                        </a:lnSpc>
                        <a:buFont typeface="Wingdings"/>
                        <a:buChar char=""/>
                        <a:tabLst>
                          <a:tab pos="299720" algn="l"/>
                          <a:tab pos="3123565" algn="l"/>
                          <a:tab pos="5716270" algn="l"/>
                        </a:tabLst>
                      </a:pPr>
                      <a:r>
                        <a:rPr dirty="0" baseline="-22875" sz="1275">
                          <a:latin typeface="Times New Roman"/>
                          <a:cs typeface="Times New Roman"/>
                        </a:rPr>
                        <a:t>Testing of</a:t>
                      </a:r>
                      <a:r>
                        <a:rPr dirty="0" baseline="-22875" sz="1275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22875" sz="1275">
                          <a:latin typeface="Times New Roman"/>
                          <a:cs typeface="Times New Roman"/>
                        </a:rPr>
                        <a:t>radar</a:t>
                      </a:r>
                      <a:r>
                        <a:rPr dirty="0" baseline="-22875" sz="1275" spc="7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22875" sz="1275">
                          <a:latin typeface="Times New Roman"/>
                          <a:cs typeface="Times New Roman"/>
                        </a:rPr>
                        <a:t>waveforms</a:t>
                      </a:r>
                      <a:r>
                        <a:rPr dirty="0" baseline="-22875" sz="1275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22875" sz="1275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baseline="-22875" sz="1275" spc="7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22875" sz="1275">
                          <a:latin typeface="Times New Roman"/>
                          <a:cs typeface="Times New Roman"/>
                        </a:rPr>
                        <a:t>reduced</a:t>
                      </a:r>
                      <a:r>
                        <a:rPr dirty="0" baseline="-22875" sz="1275" spc="22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22875" sz="1275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baseline="-22875" sz="1275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22875" sz="1275" spc="-37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baseline="-22875" sz="1275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dirty="0" sz="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incoming</a:t>
                      </a:r>
                      <a:r>
                        <a:rPr dirty="0" sz="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waveform</a:t>
                      </a:r>
                      <a:r>
                        <a:rPr dirty="0" sz="8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quality,</a:t>
                      </a:r>
                      <a:r>
                        <a:rPr dirty="0" sz="8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dirty="0" sz="8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10">
                          <a:latin typeface="Times New Roman"/>
                          <a:cs typeface="Times New Roman"/>
                        </a:rPr>
                        <a:t>reduce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55555" sz="525">
                          <a:latin typeface="Calibri"/>
                          <a:cs typeface="Calibri"/>
                        </a:rPr>
                        <a:t>November</a:t>
                      </a:r>
                      <a:r>
                        <a:rPr dirty="0" baseline="55555" sz="525" spc="1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55555" sz="525" spc="-15">
                          <a:latin typeface="Calibri"/>
                          <a:cs typeface="Calibri"/>
                        </a:rPr>
                        <a:t>2021.</a:t>
                      </a:r>
                      <a:endParaRPr baseline="55555" sz="525">
                        <a:latin typeface="Calibri"/>
                        <a:cs typeface="Calibri"/>
                      </a:endParaRPr>
                    </a:p>
                    <a:p>
                      <a:pPr marL="5716270">
                        <a:lnSpc>
                          <a:spcPts val="180"/>
                        </a:lnSpc>
                      </a:pPr>
                      <a:r>
                        <a:rPr dirty="0" sz="350">
                          <a:latin typeface="Calibri"/>
                          <a:cs typeface="Calibri"/>
                        </a:rPr>
                        <a:t>5.</a:t>
                      </a:r>
                      <a:r>
                        <a:rPr dirty="0" sz="3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da</a:t>
                      </a:r>
                      <a:r>
                        <a:rPr dirty="0" sz="350" spc="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Silva,</a:t>
                      </a:r>
                      <a:r>
                        <a:rPr dirty="0" sz="350" spc="1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Alexandre</a:t>
                      </a:r>
                      <a:r>
                        <a:rPr dirty="0" sz="3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César</a:t>
                      </a:r>
                      <a:r>
                        <a:rPr dirty="0" sz="3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 spc="-10">
                          <a:latin typeface="Calibri"/>
                          <a:cs typeface="Calibri"/>
                        </a:rPr>
                        <a:t>Rodrigues.</a:t>
                      </a:r>
                      <a:endParaRPr sz="350">
                        <a:latin typeface="Calibri"/>
                        <a:cs typeface="Calibri"/>
                      </a:endParaRPr>
                    </a:p>
                    <a:p>
                      <a:pPr marL="299720">
                        <a:lnSpc>
                          <a:spcPts val="730"/>
                        </a:lnSpc>
                        <a:tabLst>
                          <a:tab pos="3123565" algn="l"/>
                          <a:tab pos="5716270" algn="l"/>
                        </a:tabLst>
                      </a:pPr>
                      <a:r>
                        <a:rPr dirty="0" baseline="-29411" sz="1275">
                          <a:latin typeface="Times New Roman"/>
                          <a:cs typeface="Times New Roman"/>
                        </a:rPr>
                        <a:t>resource</a:t>
                      </a:r>
                      <a:r>
                        <a:rPr dirty="0" baseline="-29411" sz="1275" spc="4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29411" sz="1275">
                          <a:latin typeface="Times New Roman"/>
                          <a:cs typeface="Times New Roman"/>
                        </a:rPr>
                        <a:t>usage</a:t>
                      </a:r>
                      <a:r>
                        <a:rPr dirty="0" baseline="-29411" sz="1275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29411" sz="1275">
                          <a:latin typeface="Times New Roman"/>
                          <a:cs typeface="Times New Roman"/>
                        </a:rPr>
                        <a:t>through</a:t>
                      </a:r>
                      <a:r>
                        <a:rPr dirty="0" baseline="-29411" sz="1275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29411" sz="1275" spc="-15">
                          <a:latin typeface="Times New Roman"/>
                          <a:cs typeface="Times New Roman"/>
                        </a:rPr>
                        <a:t>auto-</a:t>
                      </a:r>
                      <a:r>
                        <a:rPr dirty="0" baseline="-29411" sz="1275">
                          <a:latin typeface="Times New Roman"/>
                          <a:cs typeface="Times New Roman"/>
                        </a:rPr>
                        <a:t>generated</a:t>
                      </a:r>
                      <a:r>
                        <a:rPr dirty="0" baseline="-29411" sz="1275" spc="8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29411" sz="1275"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dirty="0" baseline="-29411" sz="1275" spc="22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29411" sz="1275" spc="-30">
                          <a:latin typeface="Times New Roman"/>
                          <a:cs typeface="Times New Roman"/>
                        </a:rPr>
                        <a:t>code.</a:t>
                      </a:r>
                      <a:r>
                        <a:rPr dirty="0" baseline="-29411" sz="1275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dirty="0" sz="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measurements</a:t>
                      </a:r>
                      <a:r>
                        <a:rPr dirty="0" sz="8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instruments,</a:t>
                      </a:r>
                      <a:r>
                        <a:rPr dirty="0" sz="8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save</a:t>
                      </a:r>
                      <a:r>
                        <a:rPr dirty="0" sz="8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time,</a:t>
                      </a:r>
                      <a:r>
                        <a:rPr dirty="0" sz="8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25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8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63492" sz="525">
                          <a:latin typeface="Calibri"/>
                          <a:cs typeface="Calibri"/>
                        </a:rPr>
                        <a:t>"Code</a:t>
                      </a:r>
                      <a:r>
                        <a:rPr dirty="0" baseline="63492" sz="525" spc="5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63492" sz="525">
                          <a:latin typeface="Calibri"/>
                          <a:cs typeface="Calibri"/>
                        </a:rPr>
                        <a:t>Generation</a:t>
                      </a:r>
                      <a:r>
                        <a:rPr dirty="0" baseline="63492" sz="525" spc="59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63492" sz="525"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baseline="63492" sz="525" spc="6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63492" sz="525" spc="-15">
                          <a:latin typeface="Calibri"/>
                          <a:cs typeface="Calibri"/>
                        </a:rPr>
                        <a:t>MATLAB–</a:t>
                      </a:r>
                      <a:endParaRPr baseline="63492" sz="525">
                        <a:latin typeface="Calibri"/>
                        <a:cs typeface="Calibri"/>
                      </a:endParaRPr>
                    </a:p>
                    <a:p>
                      <a:pPr marL="5716270">
                        <a:lnSpc>
                          <a:spcPts val="10"/>
                        </a:lnSpc>
                        <a:tabLst>
                          <a:tab pos="6019800" algn="l"/>
                          <a:tab pos="6335395" algn="l"/>
                        </a:tabLst>
                      </a:pPr>
                      <a:r>
                        <a:rPr dirty="0" sz="350" spc="-10">
                          <a:latin typeface="Calibri"/>
                          <a:cs typeface="Calibri"/>
                        </a:rPr>
                        <a:t>Simulink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350" spc="-10">
                          <a:latin typeface="Calibri"/>
                          <a:cs typeface="Calibri"/>
                        </a:rPr>
                        <a:t>Models."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350" spc="-10">
                          <a:latin typeface="Calibri"/>
                          <a:cs typeface="Calibri"/>
                        </a:rPr>
                        <a:t>MATLAB:</a:t>
                      </a:r>
                      <a:endParaRPr sz="350">
                        <a:latin typeface="Calibri"/>
                        <a:cs typeface="Calibri"/>
                      </a:endParaRPr>
                    </a:p>
                    <a:p>
                      <a:pPr marL="3124200">
                        <a:lnSpc>
                          <a:spcPts val="710"/>
                        </a:lnSpc>
                        <a:tabLst>
                          <a:tab pos="5716270" algn="l"/>
                        </a:tabLst>
                      </a:pPr>
                      <a:r>
                        <a:rPr dirty="0" baseline="-31250" sz="1200">
                          <a:latin typeface="Times New Roman"/>
                          <a:cs typeface="Times New Roman"/>
                        </a:rPr>
                        <a:t>improve</a:t>
                      </a:r>
                      <a:r>
                        <a:rPr dirty="0" baseline="-31250" sz="1200" spc="7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31250" sz="120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dirty="0" baseline="-31250" sz="1200" spc="7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31250" sz="1200" spc="-15">
                          <a:latin typeface="Times New Roman"/>
                          <a:cs typeface="Times New Roman"/>
                        </a:rPr>
                        <a:t>efficiency.</a:t>
                      </a:r>
                      <a:r>
                        <a:rPr dirty="0" baseline="-31250" sz="12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Applications</a:t>
                      </a:r>
                      <a:r>
                        <a:rPr dirty="0" sz="350" spc="1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350" spc="1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350" spc="1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>
                          <a:latin typeface="Calibri"/>
                          <a:cs typeface="Calibri"/>
                        </a:rPr>
                        <a:t>Practical</a:t>
                      </a:r>
                      <a:r>
                        <a:rPr dirty="0" sz="350" spc="1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 spc="-10">
                          <a:latin typeface="Calibri"/>
                          <a:cs typeface="Calibri"/>
                        </a:rPr>
                        <a:t>Engineer</a:t>
                      </a:r>
                      <a:endParaRPr sz="350">
                        <a:latin typeface="Calibri"/>
                        <a:cs typeface="Calibri"/>
                      </a:endParaRPr>
                    </a:p>
                    <a:p>
                      <a:pPr marL="5716270">
                        <a:lnSpc>
                          <a:spcPts val="385"/>
                        </a:lnSpc>
                      </a:pPr>
                      <a:r>
                        <a:rPr dirty="0" sz="350">
                          <a:latin typeface="Calibri"/>
                          <a:cs typeface="Calibri"/>
                        </a:rPr>
                        <a:t>(2014):</a:t>
                      </a:r>
                      <a:r>
                        <a:rPr dirty="0" sz="3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 spc="-20">
                          <a:latin typeface="Calibri"/>
                          <a:cs typeface="Calibri"/>
                        </a:rPr>
                        <a:t>419.</a:t>
                      </a:r>
                      <a:endParaRPr sz="35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9525">
                      <a:solidFill>
                        <a:srgbClr val="8EAADB"/>
                      </a:solidFill>
                      <a:prstDash val="solid"/>
                    </a:lnL>
                    <a:lnR w="9525">
                      <a:solidFill>
                        <a:srgbClr val="8EAADB"/>
                      </a:solidFill>
                      <a:prstDash val="solid"/>
                    </a:lnR>
                    <a:lnB w="9525">
                      <a:solidFill>
                        <a:srgbClr val="8EAADB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RCI Poster of Project (Republic Day)</dc:title>
  <dcterms:created xsi:type="dcterms:W3CDTF">2026-01-19T03:38:29Z</dcterms:created>
  <dcterms:modified xsi:type="dcterms:W3CDTF">2026-01-19T03:38:29Z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2026-01-15T00:00:00Z</vt:filetime>
  </property>
  <property fmtid="{D5CDD505-2E9C-101B-9397-08002B2CF9AE}" pid="3" name="LastSaved">
    <vt:filetime>2026-01-19T00:00:00Z</vt:filetime>
  </property>
  <property fmtid="{D5CDD505-2E9C-101B-9397-08002B2CF9AE}" pid="4" name="Producer">
    <vt:lpwstr>Microsoft: Print To PDF</vt:lpwstr>
  </property>
</Properties>
</file>